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5C7480"/>
                </a:solidFill>
                <a:latin typeface="Calibri"/>
              </a:defRPr>
            </a:pPr>
            <a:r>
              <a:rPr sz="1200" b="0" i="0" u="none" strike="noStrike">
                <a:solidFill>
                  <a:srgbClr val="5C7480"/>
                </a:solidFill>
                <a:latin typeface="Calibri"/>
              </a:rPr>
              <a:t>Points available, out of 100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Weight</c:v>
                </c:pt>
              </c:strCache>
            </c:strRef>
          </c:tx>
          <c:spPr>
            <a:solidFill>
              <a:srgbClr val="0B3C49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B1F26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0B3C49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C7293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E9CB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8FC2D3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E8A33D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Industry fit</c:v>
                  </c:pt>
                  <c:pt idx="1">
                    <c:v>Application fit</c:v>
                  </c:pt>
                  <c:pt idx="2">
                    <c:v>Company size</c:v>
                  </c:pt>
                  <c:pt idx="3">
                    <c:v>Event engagement</c:v>
                  </c:pt>
                  <c:pt idx="4">
                    <c:v>Pain alignment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30</c:v>
                </c:pt>
                <c:pt idx="1">
                  <c:v>25</c:v>
                </c:pt>
                <c:pt idx="2">
                  <c:v>15</c:v>
                </c:pt>
                <c:pt idx="3">
                  <c:v>15</c:v>
                </c:pt>
                <c:pt idx="4">
                  <c:v>15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B1F26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B1F26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5"/>
        </c:scaling>
        <c:delete val="0"/>
        <c:axPos val="b"/>
        <c:majorGridlines>
          <c:spPr>
            <a:ln w="12700" cap="flat">
              <a:solidFill>
                <a:srgbClr val="E3E9EC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C74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Case study for InstaLILY. The thesis: this problem is mostly deterministic engineering, and treating it that way is what makes the output defensible to a sales team.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LLM is confined to two jobs it genuinely beats code at: reading a messy web page, and writing prose over facts already established.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load-bearing primitive is ctx.attempt(): expected failures become persisted rows, genuine programming errors still propagate.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cached snapshot is committed and gzipped — 14MB — so a reviewer reproduces the exact demo run with no keys.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scoring component that fires emits an Evidence row carrying the URL it came from.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Hallucination is treated as an engineering problem with checks, not as something you prompt away.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is_configured() gates each provider, so an unconfigured one is skipped rather than crashed 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Numbers are from the committed cached run, reproducible with one command.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Closing point: the failures are visible on purpose.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3C4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057400"/>
            <a:ext cx="9601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Tedlar Lead Agent</a:t>
            </a:r>
            <a:endParaRPr lang="en-US" sz="5400" dirty="0"/>
          </a:p>
        </p:txBody>
      </p:sp>
      <p:sp>
        <p:nvSpPr>
          <p:cNvPr id="3" name="Text 1"/>
          <p:cNvSpPr/>
          <p:nvPr/>
        </p:nvSpPr>
        <p:spPr>
          <a:xfrm>
            <a:off x="640080" y="306324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CFE0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generation and outreach for DuPont Tedlar — Graphics &amp; Signage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640080" y="36118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deterministic pipeline with the LLM kept to what it is actually better at.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0080" y="4663440"/>
            <a:ext cx="2560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640080" y="534924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FE0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stages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3474720" y="4663440"/>
            <a:ext cx="2560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97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3474720" y="534924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FE0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companies sourced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309360" y="4663440"/>
            <a:ext cx="2560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165</a:t>
            </a:r>
            <a:endParaRPr lang="en-US" sz="4400" dirty="0"/>
          </a:p>
        </p:txBody>
      </p:sp>
      <p:sp>
        <p:nvSpPr>
          <p:cNvPr id="10" name="Text 8"/>
          <p:cNvSpPr/>
          <p:nvPr/>
        </p:nvSpPr>
        <p:spPr>
          <a:xfrm>
            <a:off x="6309360" y="534924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FE0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tests, no network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APPROACH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B1F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brief invites an agent swarm. I built the opposite.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10881360" cy="1188720"/>
          </a:xfrm>
          <a:prstGeom prst="roundRect">
            <a:avLst>
              <a:gd name="adj" fmla="val 6154"/>
            </a:avLst>
          </a:prstGeom>
          <a:solidFill>
            <a:srgbClr val="EEF3F5"/>
          </a:solidFill>
          <a:ln/>
        </p:spPr>
      </p:sp>
      <p:sp>
        <p:nvSpPr>
          <p:cNvPr id="5" name="Shape 3"/>
          <p:cNvSpPr/>
          <p:nvPr/>
        </p:nvSpPr>
        <p:spPr>
          <a:xfrm>
            <a:off x="960120" y="2075688"/>
            <a:ext cx="402336" cy="402336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6" name="Text 4"/>
          <p:cNvSpPr/>
          <p:nvPr/>
        </p:nvSpPr>
        <p:spPr>
          <a:xfrm>
            <a:off x="960120" y="207568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600200" y="1892808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B3C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Reproducibility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4572000" y="1874520"/>
            <a:ext cx="6583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0B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inputs give the same score every run. A sales manager can argue with the number, because the number is a formula.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40080" y="3108960"/>
            <a:ext cx="10881360" cy="1188720"/>
          </a:xfrm>
          <a:prstGeom prst="roundRect">
            <a:avLst>
              <a:gd name="adj" fmla="val 6154"/>
            </a:avLst>
          </a:prstGeom>
          <a:solidFill>
            <a:srgbClr val="EEF3F5"/>
          </a:solidFill>
          <a:ln/>
        </p:spPr>
      </p:sp>
      <p:sp>
        <p:nvSpPr>
          <p:cNvPr id="10" name="Shape 8"/>
          <p:cNvSpPr/>
          <p:nvPr/>
        </p:nvSpPr>
        <p:spPr>
          <a:xfrm>
            <a:off x="960120" y="3493008"/>
            <a:ext cx="402336" cy="402336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1" name="Text 9"/>
          <p:cNvSpPr/>
          <p:nvPr/>
        </p:nvSpPr>
        <p:spPr>
          <a:xfrm>
            <a:off x="960120" y="349300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600200" y="3310128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B3C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Debuggability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4572000" y="3291840"/>
            <a:ext cx="6583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0B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a lead looks wrong, the breakdown names which of five components produced the points, and the URL behind each. No “the agent decided” step to shrug at.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640080" y="4526280"/>
            <a:ext cx="10881360" cy="1188720"/>
          </a:xfrm>
          <a:prstGeom prst="roundRect">
            <a:avLst>
              <a:gd name="adj" fmla="val 6154"/>
            </a:avLst>
          </a:prstGeom>
          <a:solidFill>
            <a:srgbClr val="EEF3F5"/>
          </a:solidFill>
          <a:ln/>
        </p:spPr>
      </p:sp>
      <p:sp>
        <p:nvSpPr>
          <p:cNvPr id="15" name="Shape 13"/>
          <p:cNvSpPr/>
          <p:nvPr/>
        </p:nvSpPr>
        <p:spPr>
          <a:xfrm>
            <a:off x="960120" y="4910328"/>
            <a:ext cx="402336" cy="402336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6" name="Text 14"/>
          <p:cNvSpPr/>
          <p:nvPr/>
        </p:nvSpPr>
        <p:spPr>
          <a:xfrm>
            <a:off x="960120" y="491032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600200" y="4727448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B3C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Cost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4572000" y="4709160"/>
            <a:ext cx="6583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0B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LLM calls per qualified lead — one to read the site, one to write — instead of one per reasoning hop.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640080" y="6053328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C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Deterministic: scoring · dedup · retries · persistence · filtering · provider selection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B1F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Seven stages, each isolating its own failures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645920"/>
            <a:ext cx="5349240" cy="777240"/>
          </a:xfrm>
          <a:prstGeom prst="roundRect">
            <a:avLst>
              <a:gd name="adj" fmla="val 9412"/>
            </a:avLst>
          </a:prstGeom>
          <a:solidFill>
            <a:srgbClr val="EEF3F5"/>
          </a:solidFill>
          <a:ln/>
        </p:spPr>
      </p:sp>
      <p:sp>
        <p:nvSpPr>
          <p:cNvPr id="5" name="Shape 3"/>
          <p:cNvSpPr/>
          <p:nvPr/>
        </p:nvSpPr>
        <p:spPr>
          <a:xfrm>
            <a:off x="868680" y="1828800"/>
            <a:ext cx="402336" cy="402336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6" name="Text 4"/>
          <p:cNvSpPr/>
          <p:nvPr/>
        </p:nvSpPr>
        <p:spPr>
          <a:xfrm>
            <a:off x="868680" y="18288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417320" y="1755648"/>
            <a:ext cx="4343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3C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Discover events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417320" y="2066544"/>
            <a:ext cx="4343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C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Seeded anchors verified live, plus search expansion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263640" y="1645920"/>
            <a:ext cx="5349240" cy="777240"/>
          </a:xfrm>
          <a:prstGeom prst="roundRect">
            <a:avLst>
              <a:gd name="adj" fmla="val 9412"/>
            </a:avLst>
          </a:prstGeom>
          <a:solidFill>
            <a:srgbClr val="EEF3F5"/>
          </a:solidFill>
          <a:ln/>
        </p:spPr>
      </p:sp>
      <p:sp>
        <p:nvSpPr>
          <p:cNvPr id="10" name="Shape 8"/>
          <p:cNvSpPr/>
          <p:nvPr/>
        </p:nvSpPr>
        <p:spPr>
          <a:xfrm>
            <a:off x="6492240" y="1828800"/>
            <a:ext cx="402336" cy="402336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1" name="Text 9"/>
          <p:cNvSpPr/>
          <p:nvPr/>
        </p:nvSpPr>
        <p:spPr>
          <a:xfrm>
            <a:off x="6492240" y="18288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7040880" y="1755648"/>
            <a:ext cx="4343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3C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Source companies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7040880" y="2066544"/>
            <a:ext cx="4343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C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Directories ∪ ICP search ∪ verified roster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40080" y="2606040"/>
            <a:ext cx="5349240" cy="777240"/>
          </a:xfrm>
          <a:prstGeom prst="roundRect">
            <a:avLst>
              <a:gd name="adj" fmla="val 9412"/>
            </a:avLst>
          </a:prstGeom>
          <a:solidFill>
            <a:srgbClr val="EEF3F5"/>
          </a:solidFill>
          <a:ln/>
        </p:spPr>
      </p:sp>
      <p:sp>
        <p:nvSpPr>
          <p:cNvPr id="15" name="Shape 13"/>
          <p:cNvSpPr/>
          <p:nvPr/>
        </p:nvSpPr>
        <p:spPr>
          <a:xfrm>
            <a:off x="868680" y="2788920"/>
            <a:ext cx="402336" cy="402336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6" name="Text 14"/>
          <p:cNvSpPr/>
          <p:nvPr/>
        </p:nvSpPr>
        <p:spPr>
          <a:xfrm>
            <a:off x="868680" y="278892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417320" y="2715768"/>
            <a:ext cx="4343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3C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Dedupe &amp; normalise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417320" y="3026664"/>
            <a:ext cx="4343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C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Registrable domain, then fuzzy legal name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263640" y="2606040"/>
            <a:ext cx="5349240" cy="777240"/>
          </a:xfrm>
          <a:prstGeom prst="roundRect">
            <a:avLst>
              <a:gd name="adj" fmla="val 9412"/>
            </a:avLst>
          </a:prstGeom>
          <a:solidFill>
            <a:srgbClr val="EEF3F5"/>
          </a:solidFill>
          <a:ln/>
        </p:spPr>
      </p:sp>
      <p:sp>
        <p:nvSpPr>
          <p:cNvPr id="20" name="Shape 18"/>
          <p:cNvSpPr/>
          <p:nvPr/>
        </p:nvSpPr>
        <p:spPr>
          <a:xfrm>
            <a:off x="6492240" y="2788920"/>
            <a:ext cx="402336" cy="402336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21" name="Text 19"/>
          <p:cNvSpPr/>
          <p:nvPr/>
        </p:nvSpPr>
        <p:spPr>
          <a:xfrm>
            <a:off x="6492240" y="278892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7040880" y="2715768"/>
            <a:ext cx="4343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3C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Enrich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7040880" y="3026664"/>
            <a:ext cx="4343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C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Follow the company's own nav; extract structured facts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3566160"/>
            <a:ext cx="5349240" cy="777240"/>
          </a:xfrm>
          <a:prstGeom prst="roundRect">
            <a:avLst>
              <a:gd name="adj" fmla="val 9412"/>
            </a:avLst>
          </a:prstGeom>
          <a:solidFill>
            <a:srgbClr val="EEF3F5"/>
          </a:solidFill>
          <a:ln/>
        </p:spPr>
      </p:sp>
      <p:sp>
        <p:nvSpPr>
          <p:cNvPr id="25" name="Shape 23"/>
          <p:cNvSpPr/>
          <p:nvPr/>
        </p:nvSpPr>
        <p:spPr>
          <a:xfrm>
            <a:off x="868680" y="3749040"/>
            <a:ext cx="402336" cy="402336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26" name="Text 24"/>
          <p:cNvSpPr/>
          <p:nvPr/>
        </p:nvSpPr>
        <p:spPr>
          <a:xfrm>
            <a:off x="868680" y="37490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1417320" y="3675888"/>
            <a:ext cx="4343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3C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Qualify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1417320" y="3986784"/>
            <a:ext cx="4343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C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Deterministic 0–100 score, evidence-bound rationale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6263640" y="3566160"/>
            <a:ext cx="5349240" cy="777240"/>
          </a:xfrm>
          <a:prstGeom prst="roundRect">
            <a:avLst>
              <a:gd name="adj" fmla="val 9412"/>
            </a:avLst>
          </a:prstGeom>
          <a:solidFill>
            <a:srgbClr val="EEF3F5"/>
          </a:solidFill>
          <a:ln/>
        </p:spPr>
      </p:sp>
      <p:sp>
        <p:nvSpPr>
          <p:cNvPr id="30" name="Shape 28"/>
          <p:cNvSpPr/>
          <p:nvPr/>
        </p:nvSpPr>
        <p:spPr>
          <a:xfrm>
            <a:off x="6492240" y="3749040"/>
            <a:ext cx="402336" cy="402336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31" name="Text 29"/>
          <p:cNvSpPr/>
          <p:nvPr/>
        </p:nvSpPr>
        <p:spPr>
          <a:xfrm>
            <a:off x="6492240" y="37490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7040880" y="3675888"/>
            <a:ext cx="4343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3C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Find contacts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7040880" y="3986784"/>
            <a:ext cx="4343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C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Provider chain: public web → Clay → Sales Navigator</a:t>
            </a:r>
            <a:endParaRPr lang="en-US" sz="1150" dirty="0"/>
          </a:p>
        </p:txBody>
      </p:sp>
      <p:sp>
        <p:nvSpPr>
          <p:cNvPr id="34" name="Shape 32"/>
          <p:cNvSpPr/>
          <p:nvPr/>
        </p:nvSpPr>
        <p:spPr>
          <a:xfrm>
            <a:off x="640080" y="4526280"/>
            <a:ext cx="10881360" cy="777240"/>
          </a:xfrm>
          <a:prstGeom prst="roundRect">
            <a:avLst>
              <a:gd name="adj" fmla="val 9412"/>
            </a:avLst>
          </a:prstGeom>
          <a:solidFill>
            <a:srgbClr val="FDF3E2"/>
          </a:solidFill>
          <a:ln/>
        </p:spPr>
      </p:sp>
      <p:sp>
        <p:nvSpPr>
          <p:cNvPr id="35" name="Shape 33"/>
          <p:cNvSpPr/>
          <p:nvPr/>
        </p:nvSpPr>
        <p:spPr>
          <a:xfrm>
            <a:off x="868680" y="4709160"/>
            <a:ext cx="402336" cy="402336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36" name="Text 34"/>
          <p:cNvSpPr/>
          <p:nvPr/>
        </p:nvSpPr>
        <p:spPr>
          <a:xfrm>
            <a:off x="868680" y="47091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1417320" y="4636008"/>
            <a:ext cx="9875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3C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Draft outreach</a:t>
            </a:r>
            <a:endParaRPr lang="en-US" sz="1600" dirty="0"/>
          </a:p>
        </p:txBody>
      </p:sp>
      <p:sp>
        <p:nvSpPr>
          <p:cNvPr id="38" name="Text 36"/>
          <p:cNvSpPr/>
          <p:nvPr/>
        </p:nvSpPr>
        <p:spPr>
          <a:xfrm>
            <a:off x="1417320" y="4946904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C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Validated against the evidence set, or templated</a:t>
            </a:r>
            <a:endParaRPr lang="en-US" sz="1150" dirty="0"/>
          </a:p>
        </p:txBody>
      </p:sp>
      <p:sp>
        <p:nvSpPr>
          <p:cNvPr id="39" name="Text 37"/>
          <p:cNvSpPr/>
          <p:nvPr/>
        </p:nvSpPr>
        <p:spPr>
          <a:xfrm>
            <a:off x="640080" y="594360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B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record that fails gets a StageError row and status="incomplete". The run continues — partial success is the designed outcome, a crash is a bug.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DATA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B1F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sourcing channels, because each fails differently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645920"/>
            <a:ext cx="3474720" cy="2743200"/>
          </a:xfrm>
          <a:prstGeom prst="roundRect">
            <a:avLst>
              <a:gd name="adj" fmla="val 2667"/>
            </a:avLst>
          </a:prstGeom>
          <a:solidFill>
            <a:srgbClr val="EEF3F5"/>
          </a:solidFill>
          <a:ln/>
        </p:spPr>
      </p:sp>
      <p:sp>
        <p:nvSpPr>
          <p:cNvPr id="5" name="Shape 3"/>
          <p:cNvSpPr/>
          <p:nvPr/>
        </p:nvSpPr>
        <p:spPr>
          <a:xfrm>
            <a:off x="914400" y="1920240"/>
            <a:ext cx="402336" cy="402336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19202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914400" y="2487168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3C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Exhibitor directories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914400" y="3035808"/>
            <a:ext cx="29260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B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 on plain HTML. The flagship shows front their lists with a JavaScript app over an API that rejects server-side clients — those record a miss in the error log.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343400" y="1645920"/>
            <a:ext cx="3474720" cy="2743200"/>
          </a:xfrm>
          <a:prstGeom prst="roundRect">
            <a:avLst>
              <a:gd name="adj" fmla="val 2667"/>
            </a:avLst>
          </a:prstGeom>
          <a:solidFill>
            <a:srgbClr val="EEF3F5"/>
          </a:solidFill>
          <a:ln/>
        </p:spPr>
      </p:sp>
      <p:sp>
        <p:nvSpPr>
          <p:cNvPr id="10" name="Shape 8"/>
          <p:cNvSpPr/>
          <p:nvPr/>
        </p:nvSpPr>
        <p:spPr>
          <a:xfrm>
            <a:off x="4617720" y="1920240"/>
            <a:ext cx="402336" cy="402336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1" name="Text 9"/>
          <p:cNvSpPr/>
          <p:nvPr/>
        </p:nvSpPr>
        <p:spPr>
          <a:xfrm>
            <a:off x="4617720" y="19202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617720" y="2487168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3C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ICP-shaped search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4617720" y="3035808"/>
            <a:ext cx="29260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B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channel that scales: retargeting is new query templates, not new code. Recall depends entirely on the search provider.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046720" y="1645920"/>
            <a:ext cx="3474720" cy="2743200"/>
          </a:xfrm>
          <a:prstGeom prst="roundRect">
            <a:avLst>
              <a:gd name="adj" fmla="val 2667"/>
            </a:avLst>
          </a:prstGeom>
          <a:solidFill>
            <a:srgbClr val="FDF3E2"/>
          </a:solidFill>
          <a:ln/>
        </p:spPr>
      </p:sp>
      <p:sp>
        <p:nvSpPr>
          <p:cNvPr id="15" name="Shape 13"/>
          <p:cNvSpPr/>
          <p:nvPr/>
        </p:nvSpPr>
        <p:spPr>
          <a:xfrm>
            <a:off x="8321040" y="1920240"/>
            <a:ext cx="402336" cy="402336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6" name="Text 14"/>
          <p:cNvSpPr/>
          <p:nvPr/>
        </p:nvSpPr>
        <p:spPr>
          <a:xfrm>
            <a:off x="8321040" y="19202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8321040" y="2487168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3C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Verified ICP roster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8321040" y="3035808"/>
            <a:ext cx="29260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B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Names and public URLs only. Every fact still comes from fetching the site. The one hand-curated input — and the cheapest thing in the repo to delete.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40080" y="4663440"/>
            <a:ext cx="10881360" cy="1234440"/>
          </a:xfrm>
          <a:prstGeom prst="roundRect">
            <a:avLst>
              <a:gd name="adj" fmla="val 5926"/>
            </a:avLst>
          </a:prstGeom>
          <a:solidFill>
            <a:srgbClr val="0B3C49"/>
          </a:solidFill>
          <a:ln/>
        </p:spPr>
      </p:sp>
      <p:sp>
        <p:nvSpPr>
          <p:cNvPr id="20" name="Text 18"/>
          <p:cNvSpPr/>
          <p:nvPr/>
        </p:nvSpPr>
        <p:spPr>
          <a:xfrm>
            <a:off x="1005840" y="484632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Provenance is structural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5120640" y="4828032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DCE8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HTTP response is written to a content-addressed cache with URL, status and timestamp. --mode cached replays that snapshot offline; --mode live refreshes it. Every claim in the UI carries a clickable source URL, and every source URL was really fetched.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QUALIFICATION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B1F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score you can argue with</a:t>
            </a:r>
            <a:endParaRPr lang="en-US" sz="34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640080" y="1645920"/>
          <a:ext cx="5852160" cy="3108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/>
          <p:nvPr/>
        </p:nvSpPr>
        <p:spPr>
          <a:xfrm>
            <a:off x="6858000" y="1737360"/>
            <a:ext cx="4663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3C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LLM never produces the number.</a:t>
            </a:r>
            <a:endParaRPr lang="en-US" sz="1500" dirty="0"/>
          </a:p>
        </p:txBody>
      </p:sp>
      <p:sp>
        <p:nvSpPr>
          <p:cNvPr id="6" name="Text 3"/>
          <p:cNvSpPr/>
          <p:nvPr/>
        </p:nvSpPr>
        <p:spPr>
          <a:xfrm>
            <a:off x="6858000" y="2048256"/>
            <a:ext cx="4663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B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receives the finished breakdown and the evidence list, and writes the rationale.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6858000" y="2788920"/>
            <a:ext cx="4663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3C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Confidence is separate from score.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6858000" y="3099816"/>
            <a:ext cx="4663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B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measures how much of the score is URL-backed, penalised for a missing website or unknown size.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6858000" y="3840480"/>
            <a:ext cx="4663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3C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Unknown stays unknown.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6858000" y="4151376"/>
            <a:ext cx="4663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B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private companies never publish revenue. That costs confidence rather than earning a guessed band.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640080" y="502920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3C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 A ≥ 75   ·   B ≥ 60   ·   C ≥ 40   ·   below that, out of ICP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640080" y="544068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5C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ICP vocabulary, bands and thresholds all live as data in one file — retargeting at a different business unit is a config edit.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GUARDRAILS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B1F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stops it inventing things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645920"/>
            <a:ext cx="5349240" cy="1298448"/>
          </a:xfrm>
          <a:prstGeom prst="roundRect">
            <a:avLst>
              <a:gd name="adj" fmla="val 5634"/>
            </a:avLst>
          </a:prstGeom>
          <a:solidFill>
            <a:srgbClr val="EEF3F5"/>
          </a:solidFill>
          <a:ln/>
        </p:spPr>
      </p:sp>
      <p:sp>
        <p:nvSpPr>
          <p:cNvPr id="5" name="Text 3"/>
          <p:cNvSpPr/>
          <p:nvPr/>
        </p:nvSpPr>
        <p:spPr>
          <a:xfrm>
            <a:off x="960120" y="1792224"/>
            <a:ext cx="4709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3C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Extraction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960120" y="2121408"/>
            <a:ext cx="4709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B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prompt is null-preferring and forbidden from inferring. “A global leader” is explicitly not a size statement.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263640" y="1645920"/>
            <a:ext cx="5349240" cy="1298448"/>
          </a:xfrm>
          <a:prstGeom prst="roundRect">
            <a:avLst>
              <a:gd name="adj" fmla="val 5634"/>
            </a:avLst>
          </a:prstGeom>
          <a:solidFill>
            <a:srgbClr val="EEF3F5"/>
          </a:solidFill>
          <a:ln/>
        </p:spPr>
      </p:sp>
      <p:sp>
        <p:nvSpPr>
          <p:cNvPr id="8" name="Text 6"/>
          <p:cNvSpPr/>
          <p:nvPr/>
        </p:nvSpPr>
        <p:spPr>
          <a:xfrm>
            <a:off x="6583680" y="1792224"/>
            <a:ext cx="4709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3C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Revenue regex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583680" y="2121408"/>
            <a:ext cx="4709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B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money figure only counts when a revenue word sits within 60 characters. That is what stops “a $2 billion market” becoming company turnover.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40080" y="3127248"/>
            <a:ext cx="5349240" cy="1298448"/>
          </a:xfrm>
          <a:prstGeom prst="roundRect">
            <a:avLst>
              <a:gd name="adj" fmla="val 5634"/>
            </a:avLst>
          </a:prstGeom>
          <a:solidFill>
            <a:srgbClr val="EEF3F5"/>
          </a:solidFill>
          <a:ln/>
        </p:spPr>
      </p:sp>
      <p:sp>
        <p:nvSpPr>
          <p:cNvPr id="11" name="Text 9"/>
          <p:cNvSpPr/>
          <p:nvPr/>
        </p:nvSpPr>
        <p:spPr>
          <a:xfrm>
            <a:off x="960120" y="3273552"/>
            <a:ext cx="4709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3C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Rationale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960120" y="3602736"/>
            <a:ext cx="4709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B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cited URL outside the supplied evidence flags the record. Any sentence making a numeric claim we cannot match to a known figure is removed.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263640" y="3127248"/>
            <a:ext cx="5349240" cy="1298448"/>
          </a:xfrm>
          <a:prstGeom prst="roundRect">
            <a:avLst>
              <a:gd name="adj" fmla="val 5634"/>
            </a:avLst>
          </a:prstGeom>
          <a:solidFill>
            <a:srgbClr val="EEF3F5"/>
          </a:solidFill>
          <a:ln/>
        </p:spPr>
      </p:sp>
      <p:sp>
        <p:nvSpPr>
          <p:cNvPr id="14" name="Text 12"/>
          <p:cNvSpPr/>
          <p:nvPr/>
        </p:nvSpPr>
        <p:spPr>
          <a:xfrm>
            <a:off x="6583680" y="3273552"/>
            <a:ext cx="4709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3C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Outreach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6583680" y="3602736"/>
            <a:ext cx="4709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B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must return its hook fact and that fact's URL. If the URL is not one we supplied, the draft is rejected.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40080" y="4608576"/>
            <a:ext cx="5349240" cy="1298448"/>
          </a:xfrm>
          <a:prstGeom prst="roundRect">
            <a:avLst>
              <a:gd name="adj" fmla="val 5634"/>
            </a:avLst>
          </a:prstGeom>
          <a:solidFill>
            <a:srgbClr val="EEF3F5"/>
          </a:solidFill>
          <a:ln/>
        </p:spPr>
      </p:sp>
      <p:sp>
        <p:nvSpPr>
          <p:cNvPr id="17" name="Text 15"/>
          <p:cNvSpPr/>
          <p:nvPr/>
        </p:nvSpPr>
        <p:spPr>
          <a:xfrm>
            <a:off x="960120" y="4754880"/>
            <a:ext cx="4709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3C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 output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960120" y="5084064"/>
            <a:ext cx="4709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B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Parsed into a Pydantic model before it can touch the database. Invalid output gets one repair round-trip, then the record degrades.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263640" y="4608576"/>
            <a:ext cx="5349240" cy="1298448"/>
          </a:xfrm>
          <a:prstGeom prst="roundRect">
            <a:avLst>
              <a:gd name="adj" fmla="val 5634"/>
            </a:avLst>
          </a:prstGeom>
          <a:solidFill>
            <a:srgbClr val="EEF3F5"/>
          </a:solidFill>
          <a:ln/>
        </p:spPr>
      </p:sp>
      <p:sp>
        <p:nvSpPr>
          <p:cNvPr id="20" name="Text 18"/>
          <p:cNvSpPr/>
          <p:nvPr/>
        </p:nvSpPr>
        <p:spPr>
          <a:xfrm>
            <a:off x="6583680" y="4754880"/>
            <a:ext cx="4709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3C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key at all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6583680" y="5084064"/>
            <a:ext cx="4709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B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LLM and search call has a deterministic fallback. The whole pipeline runs end to end without credentials.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 PATH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B1F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Contact enrichment is one interface, four providers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627632"/>
            <a:ext cx="10881360" cy="932688"/>
          </a:xfrm>
          <a:prstGeom prst="roundRect">
            <a:avLst>
              <a:gd name="adj" fmla="val 7843"/>
            </a:avLst>
          </a:prstGeom>
          <a:solidFill>
            <a:srgbClr val="EEF3F5"/>
          </a:solidFill>
          <a:ln/>
        </p:spPr>
      </p:sp>
      <p:sp>
        <p:nvSpPr>
          <p:cNvPr id="5" name="Shape 3"/>
          <p:cNvSpPr/>
          <p:nvPr/>
        </p:nvSpPr>
        <p:spPr>
          <a:xfrm>
            <a:off x="932688" y="2011680"/>
            <a:ext cx="164592" cy="164592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6" name="Text 4"/>
          <p:cNvSpPr/>
          <p:nvPr/>
        </p:nvSpPr>
        <p:spPr>
          <a:xfrm>
            <a:off x="1261872" y="175564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3C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PublicWebContactProvider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261872" y="2084832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C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846320" y="1773936"/>
            <a:ext cx="6309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B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Follows the site's own nav to leadership pages, plus site-restricted LinkedIn search.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40080" y="2688336"/>
            <a:ext cx="10881360" cy="932688"/>
          </a:xfrm>
          <a:prstGeom prst="roundRect">
            <a:avLst>
              <a:gd name="adj" fmla="val 7843"/>
            </a:avLst>
          </a:prstGeom>
          <a:solidFill>
            <a:srgbClr val="EEF3F5"/>
          </a:solidFill>
          <a:ln/>
        </p:spPr>
      </p:sp>
      <p:sp>
        <p:nvSpPr>
          <p:cNvPr id="10" name="Shape 8"/>
          <p:cNvSpPr/>
          <p:nvPr/>
        </p:nvSpPr>
        <p:spPr>
          <a:xfrm>
            <a:off x="932688" y="3072384"/>
            <a:ext cx="164592" cy="164592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1" name="Text 9"/>
          <p:cNvSpPr/>
          <p:nvPr/>
        </p:nvSpPr>
        <p:spPr>
          <a:xfrm>
            <a:off x="1261872" y="2816352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3C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MockContactProvider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261872" y="3145536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C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846320" y="2834640"/>
            <a:ext cx="6309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B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Deterministic fixtures. Always 0% confidence and a mock badge, so placeholder data can never read as sourced.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40080" y="3749040"/>
            <a:ext cx="10881360" cy="932688"/>
          </a:xfrm>
          <a:prstGeom prst="roundRect">
            <a:avLst>
              <a:gd name="adj" fmla="val 7843"/>
            </a:avLst>
          </a:prstGeom>
          <a:solidFill>
            <a:srgbClr val="FDF3E2"/>
          </a:solidFill>
          <a:ln/>
        </p:spPr>
      </p:sp>
      <p:sp>
        <p:nvSpPr>
          <p:cNvPr id="15" name="Shape 13"/>
          <p:cNvSpPr/>
          <p:nvPr/>
        </p:nvSpPr>
        <p:spPr>
          <a:xfrm>
            <a:off x="932688" y="4133088"/>
            <a:ext cx="164592" cy="164592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6" name="Text 14"/>
          <p:cNvSpPr/>
          <p:nvPr/>
        </p:nvSpPr>
        <p:spPr>
          <a:xfrm>
            <a:off x="1261872" y="3877056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3C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ClayProvider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261872" y="420624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C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Credential-gated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846320" y="3895344"/>
            <a:ext cx="6309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B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real table-webhook → poll/callback flow, written in full. Set CLAY_API_KEY and CLAY_WEBHOOK_URL.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40080" y="4809744"/>
            <a:ext cx="10881360" cy="932688"/>
          </a:xfrm>
          <a:prstGeom prst="roundRect">
            <a:avLst>
              <a:gd name="adj" fmla="val 7843"/>
            </a:avLst>
          </a:prstGeom>
          <a:solidFill>
            <a:srgbClr val="FDF3E2"/>
          </a:solidFill>
          <a:ln/>
        </p:spPr>
      </p:sp>
      <p:sp>
        <p:nvSpPr>
          <p:cNvPr id="20" name="Shape 18"/>
          <p:cNvSpPr/>
          <p:nvPr/>
        </p:nvSpPr>
        <p:spPr>
          <a:xfrm>
            <a:off x="932688" y="5193792"/>
            <a:ext cx="164592" cy="164592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21" name="Text 19"/>
          <p:cNvSpPr/>
          <p:nvPr/>
        </p:nvSpPr>
        <p:spPr>
          <a:xfrm>
            <a:off x="1261872" y="4937760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3C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SalesNavigatorProvider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1261872" y="5266944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C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Credential-gated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4846320" y="4956048"/>
            <a:ext cx="6309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B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real SNAP salesApiLeadSearch call shape. Scraping would breach LinkedIn's terms — so without a partner token it contributes a pre-filtered deep link a licensed rep can click.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40080" y="598932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3C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Enabling Clay in production is CONTACT_PROVIDERS=clay,public_web plus two secrets. No caller changes.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B1F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it produces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645920"/>
            <a:ext cx="2606040" cy="1371600"/>
          </a:xfrm>
          <a:prstGeom prst="roundRect">
            <a:avLst>
              <a:gd name="adj" fmla="val 5333"/>
            </a:avLst>
          </a:prstGeom>
          <a:solidFill>
            <a:srgbClr val="EEF3F5"/>
          </a:solidFill>
          <a:ln/>
        </p:spPr>
      </p:sp>
      <p:sp>
        <p:nvSpPr>
          <p:cNvPr id="5" name="Text 3"/>
          <p:cNvSpPr/>
          <p:nvPr/>
        </p:nvSpPr>
        <p:spPr>
          <a:xfrm>
            <a:off x="868680" y="1755648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B3C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97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868680" y="2487168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C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companies sourced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3429000" y="1645920"/>
            <a:ext cx="2606040" cy="1371600"/>
          </a:xfrm>
          <a:prstGeom prst="roundRect">
            <a:avLst>
              <a:gd name="adj" fmla="val 5333"/>
            </a:avLst>
          </a:prstGeom>
          <a:solidFill>
            <a:srgbClr val="EEF3F5"/>
          </a:solidFill>
          <a:ln/>
        </p:spPr>
      </p:sp>
      <p:sp>
        <p:nvSpPr>
          <p:cNvPr id="8" name="Text 6"/>
          <p:cNvSpPr/>
          <p:nvPr/>
        </p:nvSpPr>
        <p:spPr>
          <a:xfrm>
            <a:off x="3657600" y="1755648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B3C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90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3657600" y="2487168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C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enriched from their own sites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217920" y="1645920"/>
            <a:ext cx="2606040" cy="1371600"/>
          </a:xfrm>
          <a:prstGeom prst="roundRect">
            <a:avLst>
              <a:gd name="adj" fmla="val 5333"/>
            </a:avLst>
          </a:prstGeom>
          <a:solidFill>
            <a:srgbClr val="EEF3F5"/>
          </a:solidFill>
          <a:ln/>
        </p:spPr>
      </p:sp>
      <p:sp>
        <p:nvSpPr>
          <p:cNvPr id="11" name="Text 9"/>
          <p:cNvSpPr/>
          <p:nvPr/>
        </p:nvSpPr>
        <p:spPr>
          <a:xfrm>
            <a:off x="6446520" y="1755648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B3C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6446520" y="2487168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C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 &amp; associations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9006840" y="1645920"/>
            <a:ext cx="2606040" cy="1371600"/>
          </a:xfrm>
          <a:prstGeom prst="roundRect">
            <a:avLst>
              <a:gd name="adj" fmla="val 5333"/>
            </a:avLst>
          </a:prstGeom>
          <a:solidFill>
            <a:srgbClr val="EEF3F5"/>
          </a:solidFill>
          <a:ln/>
        </p:spPr>
      </p:sp>
      <p:sp>
        <p:nvSpPr>
          <p:cNvPr id="14" name="Text 12"/>
          <p:cNvSpPr/>
          <p:nvPr/>
        </p:nvSpPr>
        <p:spPr>
          <a:xfrm>
            <a:off x="9235440" y="1755648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B3C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165</a:t>
            </a:r>
            <a:endParaRPr lang="en-US" sz="4000" dirty="0"/>
          </a:p>
        </p:txBody>
      </p:sp>
      <p:sp>
        <p:nvSpPr>
          <p:cNvPr id="15" name="Text 13"/>
          <p:cNvSpPr/>
          <p:nvPr/>
        </p:nvSpPr>
        <p:spPr>
          <a:xfrm>
            <a:off x="9235440" y="2487168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C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tests, no network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640080" y="32461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B3C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dashboard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640080" y="3703320"/>
            <a:ext cx="108813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0B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Summary metrics, live stage progress, filters by event, tier, score and free text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0B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Detail panel: score breakdown, rationale, clickable evidence, contact card with Sales Navigator link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0B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Outreach editor — copy, edit, approve — persisted through the API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0B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dedicated error tab listing every handled failure, because a pipeline that hides its failures is worse than one that has none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640080" y="5349240"/>
            <a:ext cx="10881360" cy="914400"/>
          </a:xfrm>
          <a:prstGeom prst="roundRect">
            <a:avLst>
              <a:gd name="adj" fmla="val 8000"/>
            </a:avLst>
          </a:prstGeom>
          <a:solidFill>
            <a:srgbClr val="FDF3E2"/>
          </a:solidFill>
          <a:ln/>
        </p:spPr>
      </p:sp>
      <p:sp>
        <p:nvSpPr>
          <p:cNvPr id="19" name="Text 17"/>
          <p:cNvSpPr/>
          <p:nvPr/>
        </p:nvSpPr>
        <p:spPr>
          <a:xfrm>
            <a:off x="960120" y="5532120"/>
            <a:ext cx="10241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B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Last run: 108 LLM calls, $0.63 total, $0.04 per qualified lead. Runs clean with no API keys at all; each provider has a deterministic fallback, and `app.preflight` verifies every key before a run spends one.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3C4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943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LIMITS, STATED PLAINLY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 constraints cost, and where this goes next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201168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Known limits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640080" y="2468880"/>
            <a:ext cx="52120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DCE8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MapYourShow-backed exhibitor directories are JavaScript-gated and their API refuses server-side clients. A headless browser is the fix.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DCE8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 a paid search key, recall on category leaders is thin — which is why the roster channel exists.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DCE8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private companies never publish revenue, so the size component is frequently zero.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583680" y="201168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Scaling path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6583680" y="2468880"/>
            <a:ext cx="49377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DCE8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Bounded async: a global concurrency semaphore plus a per-host lock and delay.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DCE8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Per-record isolation already exists in every stage — moving to a task queue means enqueuing the same coroutines.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DCE8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ICP is one file. DATABASE_URL is the only thing between SQLite and Postgres.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0080" y="539496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of these is visible in the error log rather than papered over — which is the behaviour I would want from this system in production, and the reason it was built this way.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Tedlar Lead Agent</dc:title>
  <dc:subject>PptxGenJS Presentation</dc:subject>
  <dc:creator>Mohsin Khawaja</dc:creator>
  <cp:lastModifiedBy>Mohsin Khawaja</cp:lastModifiedBy>
  <cp:revision>1</cp:revision>
  <dcterms:created xsi:type="dcterms:W3CDTF">2026-08-28T01:51:38Z</dcterms:created>
  <dcterms:modified xsi:type="dcterms:W3CDTF">2026-08-28T01:51:38Z</dcterms:modified>
</cp:coreProperties>
</file>